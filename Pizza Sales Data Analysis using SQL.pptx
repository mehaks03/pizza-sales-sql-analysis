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EEB8-BE2F-4494-8A1E-AAB08A3D4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Pizza Sales Data Analysis using SQL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3CA75-47B9-43C2-87A7-299F32A0A9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-SQL Basics till JOINS</a:t>
            </a:r>
          </a:p>
          <a:p>
            <a:r>
              <a:rPr lang="en-US" dirty="0"/>
              <a:t>Mehak 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23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C083-7E24-44EB-BB5C-CD2127D9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59" y="1546413"/>
            <a:ext cx="9404723" cy="766482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6CE4-4E86-48EB-8838-133BCABD6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59" y="2429436"/>
            <a:ext cx="8946541" cy="1066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Analyzed a pizza sales database using SQL to extract business insights related to sales performance, customer ordering patterns, and revenue generation.</a:t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C12F9-23A0-4575-9154-8D0F88E72D65}"/>
              </a:ext>
            </a:extLst>
          </p:cNvPr>
          <p:cNvSpPr/>
          <p:nvPr/>
        </p:nvSpPr>
        <p:spPr>
          <a:xfrm>
            <a:off x="735759" y="3429000"/>
            <a:ext cx="60500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/>
              <a:t>Key Analysis Performed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F6679-A453-458B-9117-06A107DE8299}"/>
              </a:ext>
            </a:extLst>
          </p:cNvPr>
          <p:cNvSpPr/>
          <p:nvPr/>
        </p:nvSpPr>
        <p:spPr>
          <a:xfrm>
            <a:off x="735759" y="4213412"/>
            <a:ext cx="103535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 Unique pizza categories ordered</a:t>
            </a:r>
            <a:br>
              <a:rPr lang="en-US" dirty="0"/>
            </a:br>
            <a:r>
              <a:rPr lang="en-US" dirty="0"/>
              <a:t>- Category-wise sales analysis</a:t>
            </a:r>
            <a:br>
              <a:rPr lang="en-US" dirty="0"/>
            </a:br>
            <a:r>
              <a:rPr lang="en-US" dirty="0"/>
              <a:t>- Top-selling pizzas</a:t>
            </a:r>
            <a:br>
              <a:rPr lang="en-US" dirty="0"/>
            </a:br>
            <a:r>
              <a:rPr lang="en-US" dirty="0"/>
              <a:t>- Revenue by pizza size</a:t>
            </a:r>
            <a:br>
              <a:rPr lang="en-US" dirty="0"/>
            </a:br>
            <a:r>
              <a:rPr lang="en-US" dirty="0"/>
              <a:t>- Average order value</a:t>
            </a:r>
            <a:br>
              <a:rPr lang="en-US" dirty="0"/>
            </a:br>
            <a:r>
              <a:rPr lang="en-US" dirty="0"/>
              <a:t>- Peak order hours</a:t>
            </a:r>
            <a:br>
              <a:rPr lang="en-US" dirty="0"/>
            </a:br>
            <a:r>
              <a:rPr lang="en-US" dirty="0"/>
              <a:t>- Daily sales trends</a:t>
            </a:r>
            <a:br>
              <a:rPr lang="en-US" dirty="0"/>
            </a:br>
            <a:r>
              <a:rPr lang="en-US" dirty="0"/>
              <a:t>- Top revenue-generating pizza types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71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B264-D668-4FE8-93D0-98A28BBC3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71" y="1586487"/>
            <a:ext cx="9404723" cy="793376"/>
          </a:xfrm>
        </p:spPr>
        <p:txBody>
          <a:bodyPr/>
          <a:lstStyle/>
          <a:p>
            <a:r>
              <a:rPr lang="en-IN" dirty="0"/>
              <a:t>SQL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BB441-5BB6-47EC-9483-D56F4F1F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71" y="2474526"/>
            <a:ext cx="8946541" cy="20036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 JOINs</a:t>
            </a:r>
            <a:br>
              <a:rPr lang="en-US" dirty="0"/>
            </a:br>
            <a:r>
              <a:rPr lang="en-US" dirty="0"/>
              <a:t>- GROUP BY</a:t>
            </a:r>
            <a:br>
              <a:rPr lang="en-US" dirty="0"/>
            </a:br>
            <a:r>
              <a:rPr lang="en-US" dirty="0"/>
              <a:t>- HAVING</a:t>
            </a:r>
            <a:br>
              <a:rPr lang="en-US" dirty="0"/>
            </a:br>
            <a:r>
              <a:rPr lang="en-US" dirty="0"/>
              <a:t>- Aggregate Functions</a:t>
            </a:r>
            <a:br>
              <a:rPr lang="en-US" dirty="0"/>
            </a:br>
            <a:r>
              <a:rPr lang="en-US" dirty="0"/>
              <a:t>- Date Functions</a:t>
            </a:r>
            <a:br>
              <a:rPr lang="en-US" dirty="0"/>
            </a:br>
            <a:r>
              <a:rPr lang="en-US" dirty="0"/>
              <a:t>- Sorting and Filtering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A8EC6-1FD3-4932-A781-62667D2F4BD4}"/>
              </a:ext>
            </a:extLst>
          </p:cNvPr>
          <p:cNvSpPr/>
          <p:nvPr/>
        </p:nvSpPr>
        <p:spPr>
          <a:xfrm>
            <a:off x="834371" y="4563627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/>
              <a:t>Tools Used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B518A-ADC1-4BF3-9D93-81F0B9ECA1B9}"/>
              </a:ext>
            </a:extLst>
          </p:cNvPr>
          <p:cNvSpPr/>
          <p:nvPr/>
        </p:nvSpPr>
        <p:spPr>
          <a:xfrm>
            <a:off x="834371" y="535700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- SQL Server</a:t>
            </a:r>
            <a:br>
              <a:rPr lang="en-IN" dirty="0"/>
            </a:br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91664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2317"/>
          </a:xfrm>
        </p:spPr>
        <p:txBody>
          <a:bodyPr/>
          <a:lstStyle/>
          <a:p>
            <a:r>
              <a:rPr lang="en-US" sz="3200" dirty="0"/>
              <a:t>Q1. List all unique pizza categories that were ever ordered.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8" y="1792943"/>
            <a:ext cx="9297146" cy="138056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select distinct </a:t>
            </a:r>
            <a:r>
              <a:rPr lang="en-IN" dirty="0" err="1">
                <a:solidFill>
                  <a:srgbClr val="FFFF00"/>
                </a:solidFill>
              </a:rPr>
              <a:t>pt.category</a:t>
            </a:r>
            <a:r>
              <a:rPr lang="en-IN" dirty="0">
                <a:solidFill>
                  <a:srgbClr val="FFFF00"/>
                </a:solidFill>
              </a:rPr>
              <a:t>, </a:t>
            </a:r>
            <a:r>
              <a:rPr lang="en-IN" dirty="0" err="1">
                <a:solidFill>
                  <a:srgbClr val="FFFF00"/>
                </a:solidFill>
              </a:rPr>
              <a:t>od.order_id</a:t>
            </a:r>
            <a:r>
              <a:rPr lang="en-IN" dirty="0">
                <a:solidFill>
                  <a:srgbClr val="FFFF00"/>
                </a:solidFill>
              </a:rPr>
              <a:t>  from </a:t>
            </a:r>
            <a:r>
              <a:rPr lang="en-IN" dirty="0" err="1">
                <a:solidFill>
                  <a:srgbClr val="FFFF00"/>
                </a:solidFill>
              </a:rPr>
              <a:t>pizza_types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 err="1">
                <a:solidFill>
                  <a:srgbClr val="FFFF00"/>
                </a:solidFill>
              </a:rPr>
              <a:t>pt</a:t>
            </a:r>
            <a:r>
              <a:rPr lang="en-IN" dirty="0">
                <a:solidFill>
                  <a:srgbClr val="FFFF00"/>
                </a:solidFill>
              </a:rPr>
              <a:t> join pizzas p 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on </a:t>
            </a:r>
            <a:r>
              <a:rPr lang="en-IN" dirty="0" err="1">
                <a:solidFill>
                  <a:srgbClr val="FFFF00"/>
                </a:solidFill>
              </a:rPr>
              <a:t>pt.pizza_type_id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p.pizza_type_id</a:t>
            </a:r>
            <a:r>
              <a:rPr lang="en-IN" dirty="0">
                <a:solidFill>
                  <a:srgbClr val="FFFF00"/>
                </a:solidFill>
              </a:rPr>
              <a:t> join </a:t>
            </a:r>
            <a:r>
              <a:rPr lang="en-IN" dirty="0" err="1">
                <a:solidFill>
                  <a:srgbClr val="FFFF00"/>
                </a:solidFill>
              </a:rPr>
              <a:t>order_details</a:t>
            </a:r>
            <a:r>
              <a:rPr lang="en-IN" dirty="0">
                <a:solidFill>
                  <a:srgbClr val="FFFF00"/>
                </a:solidFill>
              </a:rPr>
              <a:t> od 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on </a:t>
            </a:r>
            <a:r>
              <a:rPr lang="en-IN" dirty="0" err="1">
                <a:solidFill>
                  <a:srgbClr val="FFFF00"/>
                </a:solidFill>
              </a:rPr>
              <a:t>p.pizza_id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od.pizza_id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B0735-07D0-4B44-AE16-DA68F09EC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88" y="3357018"/>
            <a:ext cx="4823878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4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2317"/>
          </a:xfrm>
        </p:spPr>
        <p:txBody>
          <a:bodyPr/>
          <a:lstStyle/>
          <a:p>
            <a:r>
              <a:rPr lang="en-US" sz="3200" dirty="0"/>
              <a:t>Q2. Find the total quantity ordered for each pizza type.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7" y="1792943"/>
            <a:ext cx="9510901" cy="1380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select </a:t>
            </a:r>
            <a:r>
              <a:rPr lang="en-US" dirty="0" err="1">
                <a:solidFill>
                  <a:srgbClr val="FFFF00"/>
                </a:solidFill>
              </a:rPr>
              <a:t>pt.category</a:t>
            </a:r>
            <a:r>
              <a:rPr lang="en-US" dirty="0">
                <a:solidFill>
                  <a:srgbClr val="FFFF00"/>
                </a:solidFill>
              </a:rPr>
              <a:t>, sum(</a:t>
            </a:r>
            <a:r>
              <a:rPr lang="en-US" dirty="0" err="1">
                <a:solidFill>
                  <a:srgbClr val="FFFF00"/>
                </a:solidFill>
              </a:rPr>
              <a:t>od.quantity</a:t>
            </a:r>
            <a:r>
              <a:rPr lang="en-US" dirty="0">
                <a:solidFill>
                  <a:srgbClr val="FFFF00"/>
                </a:solidFill>
              </a:rPr>
              <a:t>) as </a:t>
            </a:r>
            <a:r>
              <a:rPr lang="en-US" dirty="0" err="1">
                <a:solidFill>
                  <a:srgbClr val="FFFF00"/>
                </a:solidFill>
              </a:rPr>
              <a:t>total_quantity_ordered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from </a:t>
            </a:r>
            <a:r>
              <a:rPr lang="en-IN" dirty="0" err="1">
                <a:solidFill>
                  <a:srgbClr val="FFFF00"/>
                </a:solidFill>
              </a:rPr>
              <a:t>pizza_types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 err="1">
                <a:solidFill>
                  <a:srgbClr val="FFFF00"/>
                </a:solidFill>
              </a:rPr>
              <a:t>pt</a:t>
            </a:r>
            <a:r>
              <a:rPr lang="en-IN" dirty="0">
                <a:solidFill>
                  <a:srgbClr val="FFFF00"/>
                </a:solidFill>
              </a:rPr>
              <a:t> join pizzas p on </a:t>
            </a:r>
            <a:r>
              <a:rPr lang="en-IN" dirty="0" err="1">
                <a:solidFill>
                  <a:srgbClr val="FFFF00"/>
                </a:solidFill>
              </a:rPr>
              <a:t>pt.pizza_type_id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p.pizza_type_id</a:t>
            </a:r>
            <a:r>
              <a:rPr lang="en-IN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join </a:t>
            </a:r>
            <a:r>
              <a:rPr lang="en-IN" dirty="0" err="1">
                <a:solidFill>
                  <a:srgbClr val="FFFF00"/>
                </a:solidFill>
              </a:rPr>
              <a:t>order_details</a:t>
            </a:r>
            <a:r>
              <a:rPr lang="en-IN" dirty="0">
                <a:solidFill>
                  <a:srgbClr val="FFFF00"/>
                </a:solidFill>
              </a:rPr>
              <a:t> od on </a:t>
            </a:r>
            <a:r>
              <a:rPr lang="en-IN" dirty="0" err="1">
                <a:solidFill>
                  <a:srgbClr val="FFFF00"/>
                </a:solidFill>
              </a:rPr>
              <a:t>p.pizza_id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od.pizza_id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group by </a:t>
            </a:r>
            <a:r>
              <a:rPr lang="en-IN" dirty="0" err="1">
                <a:solidFill>
                  <a:srgbClr val="FFFF00"/>
                </a:solidFill>
              </a:rPr>
              <a:t>pt.category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5CA29-F00F-4315-9C97-82B737C85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12" y="3429000"/>
            <a:ext cx="4521153" cy="281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4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2317"/>
          </a:xfrm>
        </p:spPr>
        <p:txBody>
          <a:bodyPr/>
          <a:lstStyle/>
          <a:p>
            <a:r>
              <a:rPr lang="en-US" sz="3200" dirty="0"/>
              <a:t>Q3. Which pizza category had the highest total sales amount?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7" y="1792943"/>
            <a:ext cx="9573654" cy="21784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top 1 </a:t>
            </a:r>
            <a:r>
              <a:rPr lang="en-US" sz="1600" dirty="0" err="1">
                <a:solidFill>
                  <a:srgbClr val="FFFF00"/>
                </a:solidFill>
              </a:rPr>
              <a:t>pt.category</a:t>
            </a:r>
            <a:r>
              <a:rPr lang="en-US" sz="1600" dirty="0">
                <a:solidFill>
                  <a:srgbClr val="FFFF00"/>
                </a:solidFill>
              </a:rPr>
              <a:t>, round(sum(</a:t>
            </a:r>
            <a:r>
              <a:rPr lang="en-US" sz="1600" dirty="0" err="1">
                <a:solidFill>
                  <a:srgbClr val="FFFF00"/>
                </a:solidFill>
              </a:rPr>
              <a:t>p.price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),2) as </a:t>
            </a:r>
            <a:r>
              <a:rPr lang="en-US" sz="1600" dirty="0" err="1">
                <a:solidFill>
                  <a:srgbClr val="FFFF00"/>
                </a:solidFill>
              </a:rPr>
              <a:t>total_sales_amount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from </a:t>
            </a:r>
            <a:r>
              <a:rPr lang="en-IN" sz="1600" dirty="0" err="1">
                <a:solidFill>
                  <a:srgbClr val="FFFF00"/>
                </a:solidFill>
              </a:rPr>
              <a:t>pizza_types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 err="1">
                <a:solidFill>
                  <a:srgbClr val="FFFF00"/>
                </a:solidFill>
              </a:rPr>
              <a:t>pt</a:t>
            </a:r>
            <a:r>
              <a:rPr lang="en-IN" sz="1600" dirty="0">
                <a:solidFill>
                  <a:srgbClr val="FFFF00"/>
                </a:solidFill>
              </a:rPr>
              <a:t> join pizzas p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on </a:t>
            </a:r>
            <a:r>
              <a:rPr lang="en-IN" sz="1600" dirty="0" err="1">
                <a:solidFill>
                  <a:srgbClr val="FFFF00"/>
                </a:solidFill>
              </a:rPr>
              <a:t>pt.pizza_type_id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p.pizza_type_id</a:t>
            </a:r>
            <a:r>
              <a:rPr lang="en-IN" sz="1600" dirty="0">
                <a:solidFill>
                  <a:srgbClr val="FFFF00"/>
                </a:solidFill>
              </a:rPr>
              <a:t> 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join </a:t>
            </a:r>
            <a:r>
              <a:rPr lang="en-IN" sz="1600" dirty="0" err="1">
                <a:solidFill>
                  <a:srgbClr val="FFFF00"/>
                </a:solidFill>
              </a:rPr>
              <a:t>order_details</a:t>
            </a:r>
            <a:r>
              <a:rPr lang="en-IN" sz="1600" dirty="0">
                <a:solidFill>
                  <a:srgbClr val="FFFF00"/>
                </a:solidFill>
              </a:rPr>
              <a:t> od on </a:t>
            </a:r>
            <a:r>
              <a:rPr lang="en-IN" sz="1600" dirty="0" err="1">
                <a:solidFill>
                  <a:srgbClr val="FFFF00"/>
                </a:solidFill>
              </a:rPr>
              <a:t>p.pizza_id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od.pizza_id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group by  </a:t>
            </a:r>
            <a:r>
              <a:rPr lang="en-IN" sz="1600" dirty="0" err="1">
                <a:solidFill>
                  <a:srgbClr val="FFFF00"/>
                </a:solidFill>
              </a:rPr>
              <a:t>pt.category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order by sum(</a:t>
            </a:r>
            <a:r>
              <a:rPr lang="en-US" sz="1600" dirty="0" err="1">
                <a:solidFill>
                  <a:srgbClr val="FFFF00"/>
                </a:solidFill>
              </a:rPr>
              <a:t>p.price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) desc</a:t>
            </a:r>
            <a:endParaRPr lang="en-IN" sz="16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7F630-92FD-48FB-AA33-9864BE604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02" y="4396012"/>
            <a:ext cx="4085185" cy="163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3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2317"/>
          </a:xfrm>
        </p:spPr>
        <p:txBody>
          <a:bodyPr/>
          <a:lstStyle/>
          <a:p>
            <a:r>
              <a:rPr lang="en-US" sz="3200" dirty="0"/>
              <a:t>Q4. Show the top 5 most frequently ordered pizzas.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7" y="1792943"/>
            <a:ext cx="9573654" cy="235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top 5 pt.name, count(</a:t>
            </a:r>
            <a:r>
              <a:rPr lang="en-US" sz="1600" dirty="0" err="1">
                <a:solidFill>
                  <a:srgbClr val="FFFF00"/>
                </a:solidFill>
              </a:rPr>
              <a:t>od.order_id</a:t>
            </a:r>
            <a:r>
              <a:rPr lang="en-US" sz="1600" dirty="0">
                <a:solidFill>
                  <a:srgbClr val="FFFF00"/>
                </a:solidFill>
              </a:rPr>
              <a:t>) as </a:t>
            </a:r>
            <a:r>
              <a:rPr lang="en-US" sz="1600" dirty="0" err="1">
                <a:solidFill>
                  <a:srgbClr val="FFFF00"/>
                </a:solidFill>
              </a:rPr>
              <a:t>pizzas_ordered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from </a:t>
            </a:r>
            <a:r>
              <a:rPr lang="en-IN" sz="1600" dirty="0" err="1">
                <a:solidFill>
                  <a:srgbClr val="FFFF00"/>
                </a:solidFill>
              </a:rPr>
              <a:t>pizza_types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 err="1">
                <a:solidFill>
                  <a:srgbClr val="FFFF00"/>
                </a:solidFill>
              </a:rPr>
              <a:t>pt</a:t>
            </a:r>
            <a:r>
              <a:rPr lang="en-IN" sz="1600" dirty="0">
                <a:solidFill>
                  <a:srgbClr val="FFFF00"/>
                </a:solidFill>
              </a:rPr>
              <a:t> join pizzas p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on </a:t>
            </a:r>
            <a:r>
              <a:rPr lang="en-IN" sz="1600" dirty="0" err="1">
                <a:solidFill>
                  <a:srgbClr val="FFFF00"/>
                </a:solidFill>
              </a:rPr>
              <a:t>pt.pizza_type_id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p.pizza_type_id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US" sz="1600" dirty="0">
                <a:solidFill>
                  <a:srgbClr val="FFFF00"/>
                </a:solidFill>
              </a:rPr>
              <a:t>join </a:t>
            </a:r>
            <a:r>
              <a:rPr lang="en-US" sz="1600" dirty="0" err="1">
                <a:solidFill>
                  <a:srgbClr val="FFFF00"/>
                </a:solidFill>
              </a:rPr>
              <a:t>order_details</a:t>
            </a:r>
            <a:r>
              <a:rPr lang="en-US" sz="1600" dirty="0">
                <a:solidFill>
                  <a:srgbClr val="FFFF00"/>
                </a:solidFill>
              </a:rPr>
              <a:t> od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on </a:t>
            </a:r>
            <a:r>
              <a:rPr lang="it-IT" sz="1600" dirty="0">
                <a:solidFill>
                  <a:srgbClr val="FFFF00"/>
                </a:solidFill>
              </a:rPr>
              <a:t>p.pizza_id = od.pizza_id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group by pt.name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order by count(</a:t>
            </a:r>
            <a:r>
              <a:rPr lang="en-US" sz="1600" dirty="0" err="1">
                <a:solidFill>
                  <a:srgbClr val="FFFF00"/>
                </a:solidFill>
              </a:rPr>
              <a:t>od.order_id</a:t>
            </a:r>
            <a:r>
              <a:rPr lang="en-US" sz="1600" dirty="0">
                <a:solidFill>
                  <a:srgbClr val="FFFF00"/>
                </a:solidFill>
              </a:rPr>
              <a:t>) desc</a:t>
            </a:r>
            <a:endParaRPr lang="en-IN" sz="1600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2621C-9445-4CC0-8207-7E6FC676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05" y="4177695"/>
            <a:ext cx="5185746" cy="22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1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41" y="452718"/>
            <a:ext cx="9404723" cy="1062317"/>
          </a:xfrm>
        </p:spPr>
        <p:txBody>
          <a:bodyPr/>
          <a:lstStyle/>
          <a:p>
            <a:r>
              <a:rPr lang="en-US" sz="3200" dirty="0"/>
              <a:t>Q5. List all orders where more than 10 pizzas were ordered in total</a:t>
            </a:r>
            <a:r>
              <a:rPr lang="en-US" dirty="0"/>
              <a:t>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7" y="1792943"/>
            <a:ext cx="9573654" cy="12460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select </a:t>
            </a:r>
            <a:r>
              <a:rPr lang="en-US" dirty="0" err="1">
                <a:solidFill>
                  <a:srgbClr val="FFFF00"/>
                </a:solidFill>
              </a:rPr>
              <a:t>order_id</a:t>
            </a:r>
            <a:r>
              <a:rPr lang="en-US" dirty="0">
                <a:solidFill>
                  <a:srgbClr val="FFFF00"/>
                </a:solidFill>
              </a:rPr>
              <a:t>, sum(quantity) as </a:t>
            </a:r>
            <a:r>
              <a:rPr lang="en-US" dirty="0" err="1">
                <a:solidFill>
                  <a:srgbClr val="FFFF00"/>
                </a:solidFill>
              </a:rPr>
              <a:t>total_pizzas_ordered</a:t>
            </a: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from </a:t>
            </a:r>
            <a:r>
              <a:rPr lang="en-US" dirty="0" err="1">
                <a:solidFill>
                  <a:srgbClr val="FFFF00"/>
                </a:solidFill>
              </a:rPr>
              <a:t>order_details</a:t>
            </a:r>
            <a:r>
              <a:rPr lang="en-US" dirty="0">
                <a:solidFill>
                  <a:srgbClr val="FFFF00"/>
                </a:solidFill>
              </a:rPr>
              <a:t> group by </a:t>
            </a:r>
            <a:r>
              <a:rPr lang="en-US" dirty="0" err="1">
                <a:solidFill>
                  <a:srgbClr val="FFFF00"/>
                </a:solidFill>
              </a:rPr>
              <a:t>order_id</a:t>
            </a: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having sum(quantity) &gt; 10</a:t>
            </a:r>
            <a:endParaRPr lang="en-IN" sz="16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406EC-94D1-4AE6-A170-F229B3D32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18" y="3173508"/>
            <a:ext cx="4482983" cy="35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47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61682"/>
            <a:ext cx="9404723" cy="1062317"/>
          </a:xfrm>
        </p:spPr>
        <p:txBody>
          <a:bodyPr/>
          <a:lstStyle/>
          <a:p>
            <a:r>
              <a:rPr lang="en-US" sz="3200" dirty="0"/>
              <a:t>Q6. Find the total revenue generated by each pizza size</a:t>
            </a:r>
            <a:r>
              <a:rPr lang="en-US" dirty="0"/>
              <a:t>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7" y="1792943"/>
            <a:ext cx="9573654" cy="17481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select </a:t>
            </a:r>
            <a:r>
              <a:rPr lang="en-US" dirty="0" err="1">
                <a:solidFill>
                  <a:srgbClr val="FFFF00"/>
                </a:solidFill>
              </a:rPr>
              <a:t>p.size</a:t>
            </a:r>
            <a:r>
              <a:rPr lang="en-US" dirty="0">
                <a:solidFill>
                  <a:srgbClr val="FFFF00"/>
                </a:solidFill>
              </a:rPr>
              <a:t>, round(sum(</a:t>
            </a:r>
            <a:r>
              <a:rPr lang="en-US" dirty="0" err="1">
                <a:solidFill>
                  <a:srgbClr val="FFFF00"/>
                </a:solidFill>
              </a:rPr>
              <a:t>p.price</a:t>
            </a:r>
            <a:r>
              <a:rPr lang="en-US" dirty="0">
                <a:solidFill>
                  <a:srgbClr val="FFFF00"/>
                </a:solidFill>
              </a:rPr>
              <a:t>*</a:t>
            </a:r>
            <a:r>
              <a:rPr lang="en-US" dirty="0" err="1">
                <a:solidFill>
                  <a:srgbClr val="FFFF00"/>
                </a:solidFill>
              </a:rPr>
              <a:t>od.quantity</a:t>
            </a:r>
            <a:r>
              <a:rPr lang="en-US" dirty="0">
                <a:solidFill>
                  <a:srgbClr val="FFFF00"/>
                </a:solidFill>
              </a:rPr>
              <a:t>),2) as </a:t>
            </a:r>
            <a:r>
              <a:rPr lang="en-US" dirty="0" err="1">
                <a:solidFill>
                  <a:srgbClr val="FFFF00"/>
                </a:solidFill>
              </a:rPr>
              <a:t>total_revenue</a:t>
            </a: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from pizzas p join </a:t>
            </a:r>
            <a:r>
              <a:rPr lang="en-US" dirty="0" err="1">
                <a:solidFill>
                  <a:srgbClr val="FFFF00"/>
                </a:solidFill>
              </a:rPr>
              <a:t>order_details</a:t>
            </a:r>
            <a:r>
              <a:rPr lang="en-US" dirty="0">
                <a:solidFill>
                  <a:srgbClr val="FFFF00"/>
                </a:solidFill>
              </a:rPr>
              <a:t> od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on </a:t>
            </a:r>
            <a:r>
              <a:rPr lang="en-IN" dirty="0" err="1">
                <a:solidFill>
                  <a:srgbClr val="FFFF00"/>
                </a:solidFill>
              </a:rPr>
              <a:t>p.pizza_id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od.pizza_id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group by </a:t>
            </a:r>
            <a:r>
              <a:rPr lang="en-IN" dirty="0" err="1">
                <a:solidFill>
                  <a:srgbClr val="FFFF00"/>
                </a:solidFill>
              </a:rPr>
              <a:t>p.size</a:t>
            </a:r>
            <a:endParaRPr lang="en-IN" sz="1600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13381-3F4C-4944-95C5-81BF840C6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74" y="3579681"/>
            <a:ext cx="3281383" cy="28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79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61682"/>
            <a:ext cx="9404723" cy="963707"/>
          </a:xfrm>
        </p:spPr>
        <p:txBody>
          <a:bodyPr/>
          <a:lstStyle/>
          <a:p>
            <a:r>
              <a:rPr lang="en-US" sz="3200" dirty="0"/>
              <a:t>Q7. What is the average order value per order?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517278"/>
            <a:ext cx="9573654" cy="17481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select </a:t>
            </a:r>
            <a:r>
              <a:rPr lang="en-IN" dirty="0" err="1">
                <a:solidFill>
                  <a:srgbClr val="FFFF00"/>
                </a:solidFill>
              </a:rPr>
              <a:t>od.order_id</a:t>
            </a:r>
            <a:r>
              <a:rPr lang="en-IN" dirty="0">
                <a:solidFill>
                  <a:srgbClr val="FFFF00"/>
                </a:solidFill>
              </a:rPr>
              <a:t>, round(AVG(</a:t>
            </a:r>
            <a:r>
              <a:rPr lang="en-IN" dirty="0" err="1">
                <a:solidFill>
                  <a:srgbClr val="FFFF00"/>
                </a:solidFill>
              </a:rPr>
              <a:t>od.quantity</a:t>
            </a:r>
            <a:r>
              <a:rPr lang="en-IN" dirty="0">
                <a:solidFill>
                  <a:srgbClr val="FFFF00"/>
                </a:solidFill>
              </a:rPr>
              <a:t>* </a:t>
            </a:r>
            <a:r>
              <a:rPr lang="en-IN" dirty="0" err="1">
                <a:solidFill>
                  <a:srgbClr val="FFFF00"/>
                </a:solidFill>
              </a:rPr>
              <a:t>p.price</a:t>
            </a:r>
            <a:r>
              <a:rPr lang="en-IN" dirty="0">
                <a:solidFill>
                  <a:srgbClr val="FFFF00"/>
                </a:solidFill>
              </a:rPr>
              <a:t>),2) as </a:t>
            </a:r>
            <a:r>
              <a:rPr lang="en-IN" dirty="0" err="1">
                <a:solidFill>
                  <a:srgbClr val="FFFF00"/>
                </a:solidFill>
              </a:rPr>
              <a:t>avg_ordervalue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from </a:t>
            </a:r>
            <a:r>
              <a:rPr lang="en-US" dirty="0" err="1">
                <a:solidFill>
                  <a:srgbClr val="FFFF00"/>
                </a:solidFill>
              </a:rPr>
              <a:t>order_details</a:t>
            </a:r>
            <a:r>
              <a:rPr lang="en-US" dirty="0">
                <a:solidFill>
                  <a:srgbClr val="FFFF00"/>
                </a:solidFill>
              </a:rPr>
              <a:t> od join pizzas p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on </a:t>
            </a:r>
            <a:r>
              <a:rPr lang="en-IN" dirty="0" err="1">
                <a:solidFill>
                  <a:srgbClr val="FFFF00"/>
                </a:solidFill>
              </a:rPr>
              <a:t>od.pizza_id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p.pizza_id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group by </a:t>
            </a:r>
            <a:r>
              <a:rPr lang="en-US" dirty="0" err="1">
                <a:solidFill>
                  <a:srgbClr val="FFFF00"/>
                </a:solidFill>
              </a:rPr>
              <a:t>od.order_id</a:t>
            </a:r>
            <a:endParaRPr lang="en-IN" sz="16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C0F7D-4DD6-4FC0-A488-4A6C76672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22" y="3429000"/>
            <a:ext cx="3699425" cy="311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6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61682"/>
            <a:ext cx="9404723" cy="1017494"/>
          </a:xfrm>
        </p:spPr>
        <p:txBody>
          <a:bodyPr/>
          <a:lstStyle/>
          <a:p>
            <a:r>
              <a:rPr lang="en-US" sz="3200" dirty="0"/>
              <a:t>Q8. Show daily total sales, sorted by date in descending order.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819837"/>
            <a:ext cx="9573654" cy="1237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select date, count(</a:t>
            </a:r>
            <a:r>
              <a:rPr lang="en-US" dirty="0" err="1">
                <a:solidFill>
                  <a:srgbClr val="FFFF00"/>
                </a:solidFill>
              </a:rPr>
              <a:t>order_id</a:t>
            </a:r>
            <a:r>
              <a:rPr lang="en-US" dirty="0">
                <a:solidFill>
                  <a:srgbClr val="FFFF00"/>
                </a:solidFill>
              </a:rPr>
              <a:t>) as </a:t>
            </a:r>
            <a:r>
              <a:rPr lang="en-US" dirty="0" err="1">
                <a:solidFill>
                  <a:srgbClr val="FFFF00"/>
                </a:solidFill>
              </a:rPr>
              <a:t>total_sales</a:t>
            </a:r>
            <a:r>
              <a:rPr lang="en-US" dirty="0">
                <a:solidFill>
                  <a:srgbClr val="FFFF00"/>
                </a:solidFill>
              </a:rPr>
              <a:t> from orders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group by date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order by date </a:t>
            </a:r>
            <a:r>
              <a:rPr lang="en-IN" dirty="0" err="1">
                <a:solidFill>
                  <a:srgbClr val="FFFF00"/>
                </a:solidFill>
              </a:rPr>
              <a:t>desc</a:t>
            </a:r>
            <a:endParaRPr lang="en-IN" sz="1600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29897-9C5A-46E2-AF8F-5197C139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9" y="3200401"/>
            <a:ext cx="3536542" cy="331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61682"/>
            <a:ext cx="9404723" cy="1017494"/>
          </a:xfrm>
        </p:spPr>
        <p:txBody>
          <a:bodyPr/>
          <a:lstStyle/>
          <a:p>
            <a:r>
              <a:rPr lang="en-US" sz="3200" dirty="0"/>
              <a:t>Q9. Which day had the highest number of pizzas sold?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819837"/>
            <a:ext cx="9573654" cy="20080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top 1 </a:t>
            </a:r>
            <a:r>
              <a:rPr lang="en-US" sz="1600" dirty="0" err="1">
                <a:solidFill>
                  <a:srgbClr val="FFFF00"/>
                </a:solidFill>
              </a:rPr>
              <a:t>datename</a:t>
            </a:r>
            <a:r>
              <a:rPr lang="en-US" sz="1600" dirty="0">
                <a:solidFill>
                  <a:srgbClr val="FFFF00"/>
                </a:solidFill>
              </a:rPr>
              <a:t>(</a:t>
            </a:r>
            <a:r>
              <a:rPr lang="en-US" sz="1600" dirty="0" err="1">
                <a:solidFill>
                  <a:srgbClr val="FFFF00"/>
                </a:solidFill>
              </a:rPr>
              <a:t>weekday,o.date</a:t>
            </a:r>
            <a:r>
              <a:rPr lang="en-US" sz="1600" dirty="0">
                <a:solidFill>
                  <a:srgbClr val="FFFF00"/>
                </a:solidFill>
              </a:rPr>
              <a:t>) as day, sum(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) as </a:t>
            </a:r>
            <a:r>
              <a:rPr lang="en-US" sz="1600" dirty="0" err="1">
                <a:solidFill>
                  <a:srgbClr val="FFFF00"/>
                </a:solidFill>
              </a:rPr>
              <a:t>pizzas_ordered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from </a:t>
            </a:r>
            <a:r>
              <a:rPr lang="en-US" sz="1600" dirty="0" err="1">
                <a:solidFill>
                  <a:srgbClr val="FFFF00"/>
                </a:solidFill>
              </a:rPr>
              <a:t>order_details</a:t>
            </a:r>
            <a:r>
              <a:rPr lang="en-US" sz="1600" dirty="0">
                <a:solidFill>
                  <a:srgbClr val="FFFF00"/>
                </a:solidFill>
              </a:rPr>
              <a:t> od join orders o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on </a:t>
            </a:r>
            <a:r>
              <a:rPr lang="en-IN" sz="1600" dirty="0" err="1">
                <a:solidFill>
                  <a:srgbClr val="FFFF00"/>
                </a:solidFill>
              </a:rPr>
              <a:t>od.order_id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o.order_id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group by </a:t>
            </a:r>
            <a:r>
              <a:rPr lang="en-US" sz="1600" dirty="0" err="1">
                <a:solidFill>
                  <a:srgbClr val="FFFF00"/>
                </a:solidFill>
              </a:rPr>
              <a:t>datename</a:t>
            </a:r>
            <a:r>
              <a:rPr lang="en-US" sz="1600" dirty="0">
                <a:solidFill>
                  <a:srgbClr val="FFFF00"/>
                </a:solidFill>
              </a:rPr>
              <a:t>(</a:t>
            </a:r>
            <a:r>
              <a:rPr lang="en-US" sz="1600" dirty="0" err="1">
                <a:solidFill>
                  <a:srgbClr val="FFFF00"/>
                </a:solidFill>
              </a:rPr>
              <a:t>weekday,o.date</a:t>
            </a:r>
            <a:r>
              <a:rPr lang="en-US" sz="1600" dirty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order by sum(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) desc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4FEAA-8183-4652-B20D-7C4C83179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10" y="4150661"/>
            <a:ext cx="3818816" cy="216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9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52717"/>
            <a:ext cx="9404723" cy="1017494"/>
          </a:xfrm>
        </p:spPr>
        <p:txBody>
          <a:bodyPr/>
          <a:lstStyle/>
          <a:p>
            <a:r>
              <a:rPr lang="en-US" sz="3200" dirty="0"/>
              <a:t>Q10. Find total revenue per pizza type, only for "Veggie" category.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819837"/>
            <a:ext cx="9573654" cy="1609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pt.name, round(sum(</a:t>
            </a:r>
            <a:r>
              <a:rPr lang="en-US" sz="1600" dirty="0" err="1">
                <a:solidFill>
                  <a:srgbClr val="FFFF00"/>
                </a:solidFill>
              </a:rPr>
              <a:t>p.price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),2) as </a:t>
            </a:r>
            <a:r>
              <a:rPr lang="en-US" sz="1600" dirty="0" err="1">
                <a:solidFill>
                  <a:srgbClr val="FFFF00"/>
                </a:solidFill>
              </a:rPr>
              <a:t>total_revenue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from </a:t>
            </a:r>
            <a:r>
              <a:rPr lang="en-IN" sz="1600" dirty="0" err="1">
                <a:solidFill>
                  <a:srgbClr val="FFFF00"/>
                </a:solidFill>
              </a:rPr>
              <a:t>pizza_types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 err="1">
                <a:solidFill>
                  <a:srgbClr val="FFFF00"/>
                </a:solidFill>
              </a:rPr>
              <a:t>pt</a:t>
            </a:r>
            <a:r>
              <a:rPr lang="en-IN" sz="1600" dirty="0">
                <a:solidFill>
                  <a:srgbClr val="FFFF00"/>
                </a:solidFill>
              </a:rPr>
              <a:t> join pizzas p on </a:t>
            </a:r>
            <a:r>
              <a:rPr lang="en-IN" sz="1600" dirty="0" err="1">
                <a:solidFill>
                  <a:srgbClr val="FFFF00"/>
                </a:solidFill>
              </a:rPr>
              <a:t>pt.pizza_type_id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p.pizza_type_id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join </a:t>
            </a:r>
            <a:r>
              <a:rPr lang="en-IN" sz="1600" dirty="0" err="1">
                <a:solidFill>
                  <a:srgbClr val="FFFF00"/>
                </a:solidFill>
              </a:rPr>
              <a:t>order_details</a:t>
            </a:r>
            <a:r>
              <a:rPr lang="en-IN" sz="1600" dirty="0">
                <a:solidFill>
                  <a:srgbClr val="FFFF00"/>
                </a:solidFill>
              </a:rPr>
              <a:t> od on </a:t>
            </a:r>
            <a:r>
              <a:rPr lang="en-IN" sz="1600" dirty="0" err="1">
                <a:solidFill>
                  <a:srgbClr val="FFFF00"/>
                </a:solidFill>
              </a:rPr>
              <a:t>p.pizza_id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od.pizza_id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where </a:t>
            </a:r>
            <a:r>
              <a:rPr lang="en-IN" sz="1600" dirty="0" err="1">
                <a:solidFill>
                  <a:srgbClr val="FFFF00"/>
                </a:solidFill>
              </a:rPr>
              <a:t>pt.category</a:t>
            </a:r>
            <a:r>
              <a:rPr lang="en-IN" sz="1600" dirty="0">
                <a:solidFill>
                  <a:srgbClr val="FFFF00"/>
                </a:solidFill>
              </a:rPr>
              <a:t> = 'Veggie’ group by pt.name</a:t>
            </a:r>
            <a:endParaRPr lang="en-US" sz="1600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FDD40-1D6E-4206-8122-9FB40C4C3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69" y="3556866"/>
            <a:ext cx="4375960" cy="284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5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52717"/>
            <a:ext cx="9404723" cy="1017494"/>
          </a:xfrm>
        </p:spPr>
        <p:txBody>
          <a:bodyPr/>
          <a:lstStyle/>
          <a:p>
            <a:r>
              <a:rPr lang="en-US" sz="3200" dirty="0"/>
              <a:t>Q11. Count how many orders were placed each hour.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819837"/>
            <a:ext cx="9573654" cy="1609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 DATEPART(</a:t>
            </a:r>
            <a:r>
              <a:rPr lang="en-US" sz="1600" dirty="0" err="1">
                <a:solidFill>
                  <a:srgbClr val="FFFF00"/>
                </a:solidFill>
              </a:rPr>
              <a:t>hour,time</a:t>
            </a:r>
            <a:r>
              <a:rPr lang="en-US" sz="1600" dirty="0">
                <a:solidFill>
                  <a:srgbClr val="FFFF00"/>
                </a:solidFill>
              </a:rPr>
              <a:t>) as hours, count(</a:t>
            </a:r>
            <a:r>
              <a:rPr lang="en-US" sz="1600" dirty="0" err="1">
                <a:solidFill>
                  <a:srgbClr val="FFFF00"/>
                </a:solidFill>
              </a:rPr>
              <a:t>order_id</a:t>
            </a:r>
            <a:r>
              <a:rPr lang="en-US" sz="1600" dirty="0">
                <a:solidFill>
                  <a:srgbClr val="FFFF00"/>
                </a:solidFill>
              </a:rPr>
              <a:t>) as </a:t>
            </a:r>
            <a:r>
              <a:rPr lang="en-US" sz="1600" dirty="0" err="1">
                <a:solidFill>
                  <a:srgbClr val="FFFF00"/>
                </a:solidFill>
              </a:rPr>
              <a:t>orders_placed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from orders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group by DATEPART(</a:t>
            </a:r>
            <a:r>
              <a:rPr lang="en-US" sz="1600" dirty="0" err="1">
                <a:solidFill>
                  <a:srgbClr val="FFFF00"/>
                </a:solidFill>
              </a:rPr>
              <a:t>hour,time</a:t>
            </a:r>
            <a:r>
              <a:rPr lang="en-US" sz="1600" dirty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order by hours</a:t>
            </a:r>
            <a:endParaRPr lang="en-US" sz="16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FB448-5BE0-41B1-8F8F-156348115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9" y="3355232"/>
            <a:ext cx="2841667" cy="318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52717"/>
            <a:ext cx="9404723" cy="703730"/>
          </a:xfrm>
        </p:spPr>
        <p:txBody>
          <a:bodyPr/>
          <a:lstStyle/>
          <a:p>
            <a:r>
              <a:rPr lang="en-US" sz="3200" dirty="0"/>
              <a:t>Q12. List all pizzas that were never ordered.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246096"/>
            <a:ext cx="9573654" cy="1609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select pt.name from </a:t>
            </a:r>
            <a:r>
              <a:rPr lang="en-IN" dirty="0" err="1">
                <a:solidFill>
                  <a:srgbClr val="FFFF00"/>
                </a:solidFill>
              </a:rPr>
              <a:t>pizza_types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 err="1">
                <a:solidFill>
                  <a:srgbClr val="FFFF00"/>
                </a:solidFill>
              </a:rPr>
              <a:t>pt</a:t>
            </a:r>
            <a:r>
              <a:rPr lang="en-IN" dirty="0">
                <a:solidFill>
                  <a:srgbClr val="FFFF00"/>
                </a:solidFill>
              </a:rPr>
              <a:t> left join pizzas p 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on </a:t>
            </a:r>
            <a:r>
              <a:rPr lang="en-IN" dirty="0" err="1">
                <a:solidFill>
                  <a:srgbClr val="FFFF00"/>
                </a:solidFill>
              </a:rPr>
              <a:t>pt.pizza_type_id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p.pizza_type_id</a:t>
            </a:r>
            <a:r>
              <a:rPr lang="en-IN" dirty="0">
                <a:solidFill>
                  <a:srgbClr val="FFFF00"/>
                </a:solidFill>
              </a:rPr>
              <a:t> left join 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FF00"/>
                </a:solidFill>
              </a:rPr>
              <a:t>order_details</a:t>
            </a:r>
            <a:r>
              <a:rPr lang="en-IN" dirty="0">
                <a:solidFill>
                  <a:srgbClr val="FFFF00"/>
                </a:solidFill>
              </a:rPr>
              <a:t> od on </a:t>
            </a:r>
            <a:r>
              <a:rPr lang="en-IN" dirty="0" err="1">
                <a:solidFill>
                  <a:srgbClr val="FFFF00"/>
                </a:solidFill>
              </a:rPr>
              <a:t>p.pizza_id</a:t>
            </a:r>
            <a:r>
              <a:rPr lang="en-IN" dirty="0">
                <a:solidFill>
                  <a:srgbClr val="FFFF00"/>
                </a:solidFill>
              </a:rPr>
              <a:t> = </a:t>
            </a:r>
            <a:r>
              <a:rPr lang="en-IN" dirty="0" err="1">
                <a:solidFill>
                  <a:srgbClr val="FFFF00"/>
                </a:solidFill>
              </a:rPr>
              <a:t>od.pizza_id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where </a:t>
            </a:r>
            <a:r>
              <a:rPr lang="en-US" dirty="0" err="1">
                <a:solidFill>
                  <a:srgbClr val="FFFF00"/>
                </a:solidFill>
              </a:rPr>
              <a:t>od.order_id</a:t>
            </a:r>
            <a:r>
              <a:rPr lang="en-US" dirty="0">
                <a:solidFill>
                  <a:srgbClr val="FFFF00"/>
                </a:solidFill>
              </a:rPr>
              <a:t> is null</a:t>
            </a:r>
            <a:endParaRPr lang="en-US" sz="1600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B4998-C93B-4CE4-BDF8-5693F410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5" y="3231266"/>
            <a:ext cx="4287909" cy="28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71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52716"/>
            <a:ext cx="9404723" cy="1196789"/>
          </a:xfrm>
        </p:spPr>
        <p:txBody>
          <a:bodyPr/>
          <a:lstStyle/>
          <a:p>
            <a:r>
              <a:rPr lang="en-US" sz="3200" dirty="0"/>
              <a:t>Q13. Show the average number of pizzas ordered per order per category.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588484"/>
            <a:ext cx="9573654" cy="18405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select </a:t>
            </a:r>
            <a:r>
              <a:rPr lang="en-IN" sz="1600" dirty="0" err="1">
                <a:solidFill>
                  <a:srgbClr val="FFFF00"/>
                </a:solidFill>
              </a:rPr>
              <a:t>od.order_id</a:t>
            </a:r>
            <a:r>
              <a:rPr lang="en-IN" sz="1600" dirty="0">
                <a:solidFill>
                  <a:srgbClr val="FFFF00"/>
                </a:solidFill>
              </a:rPr>
              <a:t>, </a:t>
            </a:r>
            <a:r>
              <a:rPr lang="en-IN" sz="1600" dirty="0" err="1">
                <a:solidFill>
                  <a:srgbClr val="FFFF00"/>
                </a:solidFill>
              </a:rPr>
              <a:t>pt.category,avg</a:t>
            </a:r>
            <a:r>
              <a:rPr lang="en-IN" sz="1600" dirty="0">
                <a:solidFill>
                  <a:srgbClr val="FFFF00"/>
                </a:solidFill>
              </a:rPr>
              <a:t>(</a:t>
            </a:r>
            <a:r>
              <a:rPr lang="en-IN" sz="1600" dirty="0" err="1">
                <a:solidFill>
                  <a:srgbClr val="FFFF00"/>
                </a:solidFill>
              </a:rPr>
              <a:t>od.quantity</a:t>
            </a:r>
            <a:r>
              <a:rPr lang="en-IN" sz="1600" dirty="0">
                <a:solidFill>
                  <a:srgbClr val="FFFF00"/>
                </a:solidFill>
              </a:rPr>
              <a:t>) as </a:t>
            </a:r>
            <a:r>
              <a:rPr lang="en-IN" sz="1600" dirty="0" err="1">
                <a:solidFill>
                  <a:srgbClr val="FFFF00"/>
                </a:solidFill>
              </a:rPr>
              <a:t>avg_pizza_ordered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from </a:t>
            </a:r>
            <a:r>
              <a:rPr lang="en-IN" sz="1600" dirty="0" err="1">
                <a:solidFill>
                  <a:srgbClr val="FFFF00"/>
                </a:solidFill>
              </a:rPr>
              <a:t>pizza_types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 err="1">
                <a:solidFill>
                  <a:srgbClr val="FFFF00"/>
                </a:solidFill>
              </a:rPr>
              <a:t>pt</a:t>
            </a:r>
            <a:r>
              <a:rPr lang="en-IN" sz="1600" dirty="0">
                <a:solidFill>
                  <a:srgbClr val="FFFF00"/>
                </a:solidFill>
              </a:rPr>
              <a:t> join pizzas p on </a:t>
            </a:r>
            <a:r>
              <a:rPr lang="en-IN" sz="1600" dirty="0" err="1">
                <a:solidFill>
                  <a:srgbClr val="FFFF00"/>
                </a:solidFill>
              </a:rPr>
              <a:t>pt.pizza_type_id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p.pizza_type_id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join </a:t>
            </a:r>
            <a:r>
              <a:rPr lang="en-US" sz="1600" dirty="0" err="1">
                <a:solidFill>
                  <a:srgbClr val="FFFF00"/>
                </a:solidFill>
              </a:rPr>
              <a:t>order_details</a:t>
            </a:r>
            <a:r>
              <a:rPr lang="en-US" sz="1600" dirty="0">
                <a:solidFill>
                  <a:srgbClr val="FFFF00"/>
                </a:solidFill>
              </a:rPr>
              <a:t> od on </a:t>
            </a:r>
            <a:r>
              <a:rPr lang="it-IT" sz="1600" dirty="0">
                <a:solidFill>
                  <a:srgbClr val="FFFF00"/>
                </a:solidFill>
              </a:rPr>
              <a:t>od.pizza_id = p.pizza_id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group by </a:t>
            </a:r>
            <a:r>
              <a:rPr lang="en-US" sz="1600" dirty="0" err="1">
                <a:solidFill>
                  <a:srgbClr val="FFFF00"/>
                </a:solidFill>
              </a:rPr>
              <a:t>od.order_id</a:t>
            </a:r>
            <a:r>
              <a:rPr lang="en-US" sz="1600" dirty="0">
                <a:solidFill>
                  <a:srgbClr val="FFFF00"/>
                </a:solidFill>
              </a:rPr>
              <a:t>, </a:t>
            </a:r>
            <a:r>
              <a:rPr lang="en-US" sz="1600" dirty="0" err="1">
                <a:solidFill>
                  <a:srgbClr val="FFFF00"/>
                </a:solidFill>
              </a:rPr>
              <a:t>pt.category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order by </a:t>
            </a:r>
            <a:r>
              <a:rPr lang="en-US" sz="1600" dirty="0" err="1">
                <a:solidFill>
                  <a:srgbClr val="FFFF00"/>
                </a:solidFill>
              </a:rPr>
              <a:t>od.order_id</a:t>
            </a:r>
            <a:endParaRPr lang="en-US" sz="16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7C18F-A461-4616-9055-646497EA0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86" y="3532295"/>
            <a:ext cx="3640743" cy="298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18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52717"/>
            <a:ext cx="9404723" cy="766484"/>
          </a:xfrm>
        </p:spPr>
        <p:txBody>
          <a:bodyPr/>
          <a:lstStyle/>
          <a:p>
            <a:r>
              <a:rPr lang="en-US" sz="3200" dirty="0"/>
              <a:t>Q</a:t>
            </a:r>
            <a:r>
              <a:rPr lang="en-US" dirty="0"/>
              <a:t> </a:t>
            </a:r>
            <a:r>
              <a:rPr lang="en-US" sz="3200" dirty="0"/>
              <a:t>14. Find the top 3 earning pizza types.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39" y="1310578"/>
            <a:ext cx="9573654" cy="26518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top 3 pt.name, sum(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r>
              <a:rPr lang="en-US" sz="1600" dirty="0" err="1">
                <a:solidFill>
                  <a:srgbClr val="FFFF00"/>
                </a:solidFill>
              </a:rPr>
              <a:t>p.price</a:t>
            </a:r>
            <a:r>
              <a:rPr lang="en-US" sz="1600" dirty="0">
                <a:solidFill>
                  <a:srgbClr val="FFFF00"/>
                </a:solidFill>
              </a:rPr>
              <a:t>) as </a:t>
            </a:r>
            <a:r>
              <a:rPr lang="en-US" sz="1600" dirty="0" err="1">
                <a:solidFill>
                  <a:srgbClr val="FFFF00"/>
                </a:solidFill>
              </a:rPr>
              <a:t>Total_revenue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from </a:t>
            </a:r>
            <a:r>
              <a:rPr lang="en-IN" sz="1600" dirty="0" err="1">
                <a:solidFill>
                  <a:srgbClr val="FFFF00"/>
                </a:solidFill>
              </a:rPr>
              <a:t>pizza_types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 err="1">
                <a:solidFill>
                  <a:srgbClr val="FFFF00"/>
                </a:solidFill>
              </a:rPr>
              <a:t>pt</a:t>
            </a:r>
            <a:r>
              <a:rPr lang="en-IN" sz="1600" dirty="0">
                <a:solidFill>
                  <a:srgbClr val="FFFF00"/>
                </a:solidFill>
              </a:rPr>
              <a:t> join pizzas p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on </a:t>
            </a:r>
            <a:r>
              <a:rPr lang="en-IN" sz="1600" dirty="0" err="1">
                <a:solidFill>
                  <a:srgbClr val="FFFF00"/>
                </a:solidFill>
              </a:rPr>
              <a:t>pt.pizza_type_id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p.pizza_type_id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join </a:t>
            </a:r>
            <a:r>
              <a:rPr lang="en-IN" sz="1600" dirty="0" err="1">
                <a:solidFill>
                  <a:srgbClr val="FFFF00"/>
                </a:solidFill>
              </a:rPr>
              <a:t>order_details</a:t>
            </a:r>
            <a:r>
              <a:rPr lang="en-IN" sz="1600" dirty="0">
                <a:solidFill>
                  <a:srgbClr val="FFFF00"/>
                </a:solidFill>
              </a:rPr>
              <a:t> od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on </a:t>
            </a:r>
            <a:r>
              <a:rPr lang="en-IN" sz="1600" dirty="0" err="1">
                <a:solidFill>
                  <a:srgbClr val="FFFF00"/>
                </a:solidFill>
              </a:rPr>
              <a:t>od.pizza_id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p.pizza_id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group by pt.name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order by </a:t>
            </a:r>
            <a:r>
              <a:rPr lang="en-US" sz="1600" dirty="0" err="1">
                <a:solidFill>
                  <a:srgbClr val="FFFF00"/>
                </a:solidFill>
              </a:rPr>
              <a:t>Total_revenue</a:t>
            </a:r>
            <a:r>
              <a:rPr lang="en-US" sz="1600" dirty="0">
                <a:solidFill>
                  <a:srgbClr val="FFFF00"/>
                </a:solidFill>
              </a:rPr>
              <a:t> desc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AEB62-CB28-4285-A7F6-03D49487E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12" y="4202156"/>
            <a:ext cx="5059389" cy="177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3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DA12-1D27-4A9C-8286-6A2F34FB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39" y="452717"/>
            <a:ext cx="9404723" cy="1098177"/>
          </a:xfrm>
        </p:spPr>
        <p:txBody>
          <a:bodyPr/>
          <a:lstStyle/>
          <a:p>
            <a:r>
              <a:rPr lang="en-US" sz="3200" dirty="0"/>
              <a:t>Q15. List total revenue per order, but only show those orders where revenue &gt; $300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4B4A-782A-4670-8232-74D79E4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215" y="1739153"/>
            <a:ext cx="9573654" cy="20618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select </a:t>
            </a:r>
            <a:r>
              <a:rPr lang="en-US" sz="1600" dirty="0" err="1">
                <a:solidFill>
                  <a:srgbClr val="FFFF00"/>
                </a:solidFill>
              </a:rPr>
              <a:t>od.order_id</a:t>
            </a:r>
            <a:r>
              <a:rPr lang="en-US" sz="1600" dirty="0">
                <a:solidFill>
                  <a:srgbClr val="FFFF00"/>
                </a:solidFill>
              </a:rPr>
              <a:t>, sum(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r>
              <a:rPr lang="en-US" sz="1600" dirty="0" err="1">
                <a:solidFill>
                  <a:srgbClr val="FFFF00"/>
                </a:solidFill>
              </a:rPr>
              <a:t>p.price</a:t>
            </a:r>
            <a:r>
              <a:rPr lang="en-US" sz="1600" dirty="0">
                <a:solidFill>
                  <a:srgbClr val="FFFF00"/>
                </a:solidFill>
              </a:rPr>
              <a:t>) as </a:t>
            </a:r>
            <a:r>
              <a:rPr lang="en-US" sz="1600" dirty="0" err="1">
                <a:solidFill>
                  <a:srgbClr val="FFFF00"/>
                </a:solidFill>
              </a:rPr>
              <a:t>Total_revenue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from pizzas p join </a:t>
            </a:r>
            <a:r>
              <a:rPr lang="en-US" sz="1600" dirty="0" err="1">
                <a:solidFill>
                  <a:srgbClr val="FFFF00"/>
                </a:solidFill>
              </a:rPr>
              <a:t>order_details</a:t>
            </a:r>
            <a:r>
              <a:rPr lang="en-US" sz="1600" dirty="0">
                <a:solidFill>
                  <a:srgbClr val="FFFF00"/>
                </a:solidFill>
              </a:rPr>
              <a:t> od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FF00"/>
                </a:solidFill>
              </a:rPr>
              <a:t>on </a:t>
            </a:r>
            <a:r>
              <a:rPr lang="en-IN" sz="1600" dirty="0" err="1">
                <a:solidFill>
                  <a:srgbClr val="FFFF00"/>
                </a:solidFill>
              </a:rPr>
              <a:t>p.pizza_id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od.pizza_id</a:t>
            </a:r>
            <a:endParaRPr lang="en-IN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group by </a:t>
            </a:r>
            <a:r>
              <a:rPr lang="en-US" sz="1600" dirty="0" err="1">
                <a:solidFill>
                  <a:srgbClr val="FFFF00"/>
                </a:solidFill>
              </a:rPr>
              <a:t>od.order_id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</a:rPr>
              <a:t>having sum(</a:t>
            </a:r>
            <a:r>
              <a:rPr lang="en-US" sz="1600" dirty="0" err="1">
                <a:solidFill>
                  <a:srgbClr val="FFFF00"/>
                </a:solidFill>
              </a:rPr>
              <a:t>od.quantity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r>
              <a:rPr lang="en-US" sz="1600" dirty="0" err="1">
                <a:solidFill>
                  <a:srgbClr val="FFFF00"/>
                </a:solidFill>
              </a:rPr>
              <a:t>p.price</a:t>
            </a:r>
            <a:r>
              <a:rPr lang="en-US" sz="1600" dirty="0">
                <a:solidFill>
                  <a:srgbClr val="FFFF00"/>
                </a:solidFill>
              </a:rPr>
              <a:t>) &gt; 300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497C2-0AD4-48D8-A7F4-FDB85E8E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14" y="3989294"/>
            <a:ext cx="5294910" cy="206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35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D0B8-76FA-45C6-968B-C189A2EE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381" y="757519"/>
            <a:ext cx="3361113" cy="918882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A771-4647-46D0-AA06-CFD84D35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477" y="3065931"/>
            <a:ext cx="3639017" cy="140053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Mehak Sharma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SQL Data Analysis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046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1189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Pizza Sales Data Analysis using SQL</vt:lpstr>
      <vt:lpstr>Project Overview</vt:lpstr>
      <vt:lpstr>SQL Concepts Used</vt:lpstr>
      <vt:lpstr>Q1. List all unique pizza categories that were ever ordered.</vt:lpstr>
      <vt:lpstr>Q2. Find the total quantity ordered for each pizza type.</vt:lpstr>
      <vt:lpstr>Q3. Which pizza category had the highest total sales amount?</vt:lpstr>
      <vt:lpstr>Q4. Show the top 5 most frequently ordered pizzas.</vt:lpstr>
      <vt:lpstr>Q5. List all orders where more than 10 pizzas were ordered in total.</vt:lpstr>
      <vt:lpstr>Q6. Find the total revenue generated by each pizza size.</vt:lpstr>
      <vt:lpstr>Q7. What is the average order value per order?</vt:lpstr>
      <vt:lpstr>Q8. Show daily total sales, sorted by date in descending order.</vt:lpstr>
      <vt:lpstr>Q9. Which day had the highest number of pizzas sold?</vt:lpstr>
      <vt:lpstr>Q10. Find total revenue per pizza type, only for "Veggie" category.</vt:lpstr>
      <vt:lpstr>Q11. Count how many orders were placed each hour.</vt:lpstr>
      <vt:lpstr>Q12. List all pizzas that were never ordered.</vt:lpstr>
      <vt:lpstr>Q13. Show the average number of pizzas ordered per order per category.</vt:lpstr>
      <vt:lpstr>Q 14. Find the top 3 earning pizza types.</vt:lpstr>
      <vt:lpstr>Q15. List total revenue per order, but only show those orders where revenue &gt; $300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Data Analysis using SQL</dc:title>
  <dc:creator>WIN11</dc:creator>
  <cp:lastModifiedBy>WIN11</cp:lastModifiedBy>
  <cp:revision>6</cp:revision>
  <dcterms:created xsi:type="dcterms:W3CDTF">2026-06-20T13:10:50Z</dcterms:created>
  <dcterms:modified xsi:type="dcterms:W3CDTF">2026-06-20T14:11:16Z</dcterms:modified>
</cp:coreProperties>
</file>